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ex Gyre Termes" charset="1" panose="00000500000000000000"/>
      <p:regular r:id="rId16"/>
    </p:embeddedFont>
    <p:embeddedFont>
      <p:font typeface="Poppins" charset="1" panose="00000500000000000000"/>
      <p:regular r:id="rId17"/>
    </p:embeddedFont>
    <p:embeddedFont>
      <p:font typeface="Tex Gyre Termes Italics" charset="1" panose="00000500000000000000"/>
      <p:regular r:id="rId18"/>
    </p:embeddedFont>
    <p:embeddedFont>
      <p:font typeface="Tex Gyre Termes Bold" charset="1" panose="000008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91639" y="4933233"/>
            <a:ext cx="6782896" cy="983696"/>
            <a:chOff x="0" y="0"/>
            <a:chExt cx="1786442" cy="259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6442" cy="259081"/>
            </a:xfrm>
            <a:custGeom>
              <a:avLst/>
              <a:gdLst/>
              <a:ahLst/>
              <a:cxnLst/>
              <a:rect r="r" b="b" t="t" l="l"/>
              <a:pathLst>
                <a:path h="259081" w="1786442">
                  <a:moveTo>
                    <a:pt x="58211" y="0"/>
                  </a:moveTo>
                  <a:lnTo>
                    <a:pt x="1728231" y="0"/>
                  </a:lnTo>
                  <a:cubicBezTo>
                    <a:pt x="1760380" y="0"/>
                    <a:pt x="1786442" y="26062"/>
                    <a:pt x="1786442" y="58211"/>
                  </a:cubicBezTo>
                  <a:lnTo>
                    <a:pt x="1786442" y="200870"/>
                  </a:lnTo>
                  <a:cubicBezTo>
                    <a:pt x="1786442" y="233019"/>
                    <a:pt x="1760380" y="259081"/>
                    <a:pt x="1728231" y="259081"/>
                  </a:cubicBezTo>
                  <a:lnTo>
                    <a:pt x="58211" y="259081"/>
                  </a:lnTo>
                  <a:cubicBezTo>
                    <a:pt x="26062" y="259081"/>
                    <a:pt x="0" y="233019"/>
                    <a:pt x="0" y="200870"/>
                  </a:cubicBezTo>
                  <a:lnTo>
                    <a:pt x="0" y="58211"/>
                  </a:lnTo>
                  <a:cubicBezTo>
                    <a:pt x="0" y="26062"/>
                    <a:pt x="26062" y="0"/>
                    <a:pt x="58211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6442" cy="316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96361" y="1028700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0935" y="52877"/>
            <a:ext cx="11921164" cy="465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79"/>
              </a:lnSpc>
              <a:spcBef>
                <a:spcPct val="0"/>
              </a:spcBef>
            </a:pPr>
            <a:r>
              <a:rPr lang="en-US" sz="8842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Student Pl</a:t>
            </a:r>
            <a:r>
              <a:rPr lang="en-US" sz="8842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acement and Internship Analytics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91639" y="5029200"/>
            <a:ext cx="6620639" cy="67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3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Turning Data Into Insights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3932778" y="7818332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8" y="0"/>
                </a:lnTo>
                <a:lnTo>
                  <a:pt x="2162938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46088" y="3270351"/>
            <a:ext cx="5300548" cy="5319893"/>
          </a:xfrm>
          <a:custGeom>
            <a:avLst/>
            <a:gdLst/>
            <a:ahLst/>
            <a:cxnLst/>
            <a:rect r="r" b="b" t="t" l="l"/>
            <a:pathLst>
              <a:path h="5319893" w="5300548">
                <a:moveTo>
                  <a:pt x="0" y="0"/>
                </a:moveTo>
                <a:lnTo>
                  <a:pt x="5300547" y="0"/>
                </a:lnTo>
                <a:lnTo>
                  <a:pt x="5300547" y="5319892"/>
                </a:lnTo>
                <a:lnTo>
                  <a:pt x="0" y="5319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75120" y="7778016"/>
            <a:ext cx="11921164" cy="216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</a:pPr>
            <a:r>
              <a:rPr lang="en-US" sz="4142" u="sng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Submitted By:</a:t>
            </a:r>
          </a:p>
          <a:p>
            <a:pPr algn="ctr">
              <a:lnSpc>
                <a:spcPts val="5799"/>
              </a:lnSpc>
              <a:spcBef>
                <a:spcPct val="0"/>
              </a:spcBef>
            </a:pPr>
            <a:r>
              <a:rPr lang="en-US" sz="4142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P</a:t>
            </a:r>
            <a:r>
              <a:rPr lang="en-US" sz="4142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avani Yeddala</a:t>
            </a:r>
          </a:p>
          <a:p>
            <a:pPr algn="ctr">
              <a:lnSpc>
                <a:spcPts val="5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882973" y="7427583"/>
            <a:ext cx="4091562" cy="285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6"/>
              </a:lnSpc>
            </a:pPr>
            <a:r>
              <a:rPr lang="en-US" sz="3647" u="sng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Technologies Used</a:t>
            </a:r>
          </a:p>
          <a:p>
            <a:pPr algn="just" marL="673341" indent="-336671" lvl="1">
              <a:lnSpc>
                <a:spcPts val="4366"/>
              </a:lnSpc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M</a:t>
            </a:r>
            <a:r>
              <a:rPr lang="en-US" sz="3118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icrosoft Power BI</a:t>
            </a:r>
          </a:p>
          <a:p>
            <a:pPr algn="just" marL="673341" indent="-336671" lvl="1">
              <a:lnSpc>
                <a:spcPts val="4366"/>
              </a:lnSpc>
              <a:spcBef>
                <a:spcPct val="0"/>
              </a:spcBef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M</a:t>
            </a:r>
            <a:r>
              <a:rPr lang="en-US" sz="3118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icrosoft Excel</a:t>
            </a:r>
          </a:p>
          <a:p>
            <a:pPr algn="just" marL="673341" indent="-336671" lvl="1">
              <a:lnSpc>
                <a:spcPts val="4366"/>
              </a:lnSpc>
              <a:spcBef>
                <a:spcPct val="0"/>
              </a:spcBef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Google Forms</a:t>
            </a:r>
          </a:p>
          <a:p>
            <a:pPr algn="just">
              <a:lnSpc>
                <a:spcPts val="436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01588" y="7622152"/>
            <a:ext cx="3643933" cy="186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6"/>
              </a:lnSpc>
            </a:pPr>
            <a:r>
              <a:rPr lang="en-US" sz="3847" u="sng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Domain</a:t>
            </a:r>
          </a:p>
          <a:p>
            <a:pPr algn="ctr">
              <a:lnSpc>
                <a:spcPts val="5386"/>
              </a:lnSpc>
              <a:spcBef>
                <a:spcPct val="0"/>
              </a:spcBef>
            </a:pPr>
            <a:r>
              <a:rPr lang="en-US" sz="3847" i="true">
                <a:solidFill>
                  <a:srgbClr val="FFFFFF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Da</a:t>
            </a:r>
            <a:r>
              <a:rPr lang="en-US" sz="3847" i="true">
                <a:solidFill>
                  <a:srgbClr val="FFFFFF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ta Analyt</a:t>
            </a:r>
            <a:r>
              <a:rPr lang="en-US" sz="3847" i="true">
                <a:solidFill>
                  <a:srgbClr val="FFFFFF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ics</a:t>
            </a:r>
          </a:p>
          <a:p>
            <a:pPr algn="just">
              <a:lnSpc>
                <a:spcPts val="4126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5400000">
            <a:off x="9989546" y="7859089"/>
            <a:ext cx="2342992" cy="1282255"/>
          </a:xfrm>
          <a:custGeom>
            <a:avLst/>
            <a:gdLst/>
            <a:ahLst/>
            <a:cxnLst/>
            <a:rect r="r" b="b" t="t" l="l"/>
            <a:pathLst>
              <a:path h="1282255" w="2342992">
                <a:moveTo>
                  <a:pt x="0" y="0"/>
                </a:moveTo>
                <a:lnTo>
                  <a:pt x="2342992" y="0"/>
                </a:lnTo>
                <a:lnTo>
                  <a:pt x="2342992" y="1282255"/>
                </a:lnTo>
                <a:lnTo>
                  <a:pt x="0" y="1282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12098" y="119710"/>
            <a:ext cx="9416369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9"/>
              </a:lnSpc>
              <a:spcBef>
                <a:spcPct val="0"/>
              </a:spcBef>
            </a:pPr>
            <a:r>
              <a:rPr lang="en-US" b="true" sz="7399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4139" y="1890131"/>
            <a:ext cx="11132716" cy="829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69"/>
              </a:lnSpc>
            </a:pPr>
            <a:r>
              <a:rPr lang="en-US" b="true" sz="3978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  <a:p>
            <a:pPr algn="just">
              <a:lnSpc>
                <a:spcPts val="4515"/>
              </a:lnSpc>
              <a:spcBef>
                <a:spcPct val="0"/>
              </a:spcBef>
            </a:pPr>
            <a:r>
              <a:rPr lang="en-US" sz="3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3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 of this project is to analyze student placement and internship data using Power BI to identify trends, measure placement readiness, and provide actionable insights for improving student career outcomes.</a:t>
            </a:r>
          </a:p>
          <a:p>
            <a:pPr algn="just">
              <a:lnSpc>
                <a:spcPts val="4515"/>
              </a:lnSpc>
              <a:spcBef>
                <a:spcPct val="0"/>
              </a:spcBef>
            </a:pPr>
          </a:p>
          <a:p>
            <a:pPr algn="just">
              <a:lnSpc>
                <a:spcPts val="5569"/>
              </a:lnSpc>
              <a:spcBef>
                <a:spcPct val="0"/>
              </a:spcBef>
            </a:pPr>
            <a:r>
              <a:rPr lang="en-US" b="true" sz="3978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  <a:p>
            <a:pPr algn="just" marL="696430" indent="-348215" lvl="1">
              <a:lnSpc>
                <a:spcPts val="4515"/>
              </a:lnSpc>
              <a:spcBef>
                <a:spcPct val="0"/>
              </a:spcBef>
              <a:buFont typeface="Arial"/>
              <a:buChar char="•"/>
            </a:pPr>
            <a:r>
              <a:rPr lang="en-US" sz="3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Form Survey Responses</a:t>
            </a:r>
          </a:p>
          <a:p>
            <a:pPr algn="just" marL="696430" indent="-348215" lvl="1">
              <a:lnSpc>
                <a:spcPts val="4515"/>
              </a:lnSpc>
              <a:spcBef>
                <a:spcPct val="0"/>
              </a:spcBef>
              <a:buFont typeface="Arial"/>
              <a:buChar char="•"/>
            </a:pPr>
            <a:r>
              <a:rPr lang="en-US" sz="3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50 Student Records</a:t>
            </a:r>
          </a:p>
          <a:p>
            <a:pPr algn="just" marL="696430" indent="-348215" lvl="1">
              <a:lnSpc>
                <a:spcPts val="4515"/>
              </a:lnSpc>
              <a:spcBef>
                <a:spcPct val="0"/>
              </a:spcBef>
              <a:buFont typeface="Arial"/>
              <a:buChar char="•"/>
            </a:pPr>
            <a:r>
              <a:rPr lang="en-US" sz="3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36 Colleges</a:t>
            </a:r>
          </a:p>
          <a:p>
            <a:pPr algn="just" marL="696430" indent="-348215" lvl="1">
              <a:lnSpc>
                <a:spcPts val="4515"/>
              </a:lnSpc>
              <a:spcBef>
                <a:spcPct val="0"/>
              </a:spcBef>
              <a:buFont typeface="Arial"/>
              <a:buChar char="•"/>
            </a:pPr>
            <a:r>
              <a:rPr lang="en-US" sz="3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Departments</a:t>
            </a:r>
          </a:p>
          <a:p>
            <a:pPr algn="just">
              <a:lnSpc>
                <a:spcPts val="4515"/>
              </a:lnSpc>
              <a:spcBef>
                <a:spcPct val="0"/>
              </a:spcBef>
            </a:pPr>
          </a:p>
          <a:p>
            <a:pPr algn="just">
              <a:lnSpc>
                <a:spcPts val="451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64604" y="3136568"/>
            <a:ext cx="5097884" cy="5817087"/>
          </a:xfrm>
          <a:custGeom>
            <a:avLst/>
            <a:gdLst/>
            <a:ahLst/>
            <a:cxnLst/>
            <a:rect r="r" b="b" t="t" l="l"/>
            <a:pathLst>
              <a:path h="5817087" w="5097884">
                <a:moveTo>
                  <a:pt x="0" y="0"/>
                </a:moveTo>
                <a:lnTo>
                  <a:pt x="5097884" y="0"/>
                </a:lnTo>
                <a:lnTo>
                  <a:pt x="5097884" y="5817088"/>
                </a:lnTo>
                <a:lnTo>
                  <a:pt x="0" y="5817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482665"/>
            <a:ext cx="2204123" cy="1206256"/>
          </a:xfrm>
          <a:custGeom>
            <a:avLst/>
            <a:gdLst/>
            <a:ahLst/>
            <a:cxnLst/>
            <a:rect r="r" b="b" t="t" l="l"/>
            <a:pathLst>
              <a:path h="1206256" w="2204123">
                <a:moveTo>
                  <a:pt x="0" y="0"/>
                </a:moveTo>
                <a:lnTo>
                  <a:pt x="2204123" y="0"/>
                </a:lnTo>
                <a:lnTo>
                  <a:pt x="2204123" y="1206256"/>
                </a:lnTo>
                <a:lnTo>
                  <a:pt x="0" y="1206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57239" y="-340543"/>
            <a:ext cx="2204123" cy="1206256"/>
          </a:xfrm>
          <a:custGeom>
            <a:avLst/>
            <a:gdLst/>
            <a:ahLst/>
            <a:cxnLst/>
            <a:rect r="r" b="b" t="t" l="l"/>
            <a:pathLst>
              <a:path h="1206256" w="2204123">
                <a:moveTo>
                  <a:pt x="0" y="0"/>
                </a:moveTo>
                <a:lnTo>
                  <a:pt x="2204122" y="0"/>
                </a:lnTo>
                <a:lnTo>
                  <a:pt x="2204122" y="1206256"/>
                </a:lnTo>
                <a:lnTo>
                  <a:pt x="0" y="1206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75036"/>
            <a:ext cx="5206345" cy="5279526"/>
            <a:chOff x="0" y="0"/>
            <a:chExt cx="1371218" cy="1390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218" cy="1390493"/>
            </a:xfrm>
            <a:custGeom>
              <a:avLst/>
              <a:gdLst/>
              <a:ahLst/>
              <a:cxnLst/>
              <a:rect r="r" b="b" t="t" l="l"/>
              <a:pathLst>
                <a:path h="1390493" w="1371218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314655"/>
                  </a:lnTo>
                  <a:cubicBezTo>
                    <a:pt x="1371218" y="1334768"/>
                    <a:pt x="1363228" y="1354058"/>
                    <a:pt x="1349006" y="1368280"/>
                  </a:cubicBezTo>
                  <a:cubicBezTo>
                    <a:pt x="1334784" y="1382503"/>
                    <a:pt x="1315494" y="1390493"/>
                    <a:pt x="1295381" y="1390493"/>
                  </a:cubicBezTo>
                  <a:lnTo>
                    <a:pt x="75838" y="1390493"/>
                  </a:lnTo>
                  <a:cubicBezTo>
                    <a:pt x="55724" y="1390493"/>
                    <a:pt x="36435" y="1382503"/>
                    <a:pt x="22212" y="1368280"/>
                  </a:cubicBezTo>
                  <a:cubicBezTo>
                    <a:pt x="7990" y="1354058"/>
                    <a:pt x="0" y="1334768"/>
                    <a:pt x="0" y="1314655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371218" cy="145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5845" y="3583392"/>
            <a:ext cx="4598047" cy="1159467"/>
            <a:chOff x="0" y="0"/>
            <a:chExt cx="1211008" cy="305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1008" cy="305374"/>
            </a:xfrm>
            <a:custGeom>
              <a:avLst/>
              <a:gdLst/>
              <a:ahLst/>
              <a:cxnLst/>
              <a:rect r="r" b="b" t="t" l="l"/>
              <a:pathLst>
                <a:path h="305374" w="1211008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52955" y="3175036"/>
            <a:ext cx="5206345" cy="5279526"/>
            <a:chOff x="0" y="0"/>
            <a:chExt cx="1371218" cy="13904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218" cy="1390493"/>
            </a:xfrm>
            <a:custGeom>
              <a:avLst/>
              <a:gdLst/>
              <a:ahLst/>
              <a:cxnLst/>
              <a:rect r="r" b="b" t="t" l="l"/>
              <a:pathLst>
                <a:path h="1390493" w="1371218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314655"/>
                  </a:lnTo>
                  <a:cubicBezTo>
                    <a:pt x="1371218" y="1334768"/>
                    <a:pt x="1363228" y="1354058"/>
                    <a:pt x="1349006" y="1368280"/>
                  </a:cubicBezTo>
                  <a:cubicBezTo>
                    <a:pt x="1334784" y="1382503"/>
                    <a:pt x="1315494" y="1390493"/>
                    <a:pt x="1295381" y="1390493"/>
                  </a:cubicBezTo>
                  <a:lnTo>
                    <a:pt x="75838" y="1390493"/>
                  </a:lnTo>
                  <a:cubicBezTo>
                    <a:pt x="55724" y="1390493"/>
                    <a:pt x="36435" y="1382503"/>
                    <a:pt x="22212" y="1368280"/>
                  </a:cubicBezTo>
                  <a:cubicBezTo>
                    <a:pt x="7990" y="1354058"/>
                    <a:pt x="0" y="1334768"/>
                    <a:pt x="0" y="1314655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71218" cy="145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2321" y="3175036"/>
            <a:ext cx="5206345" cy="5279526"/>
            <a:chOff x="0" y="0"/>
            <a:chExt cx="1371218" cy="13904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218" cy="1390493"/>
            </a:xfrm>
            <a:custGeom>
              <a:avLst/>
              <a:gdLst/>
              <a:ahLst/>
              <a:cxnLst/>
              <a:rect r="r" b="b" t="t" l="l"/>
              <a:pathLst>
                <a:path h="1390493" w="1371218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314655"/>
                  </a:lnTo>
                  <a:cubicBezTo>
                    <a:pt x="1371218" y="1334768"/>
                    <a:pt x="1363228" y="1354058"/>
                    <a:pt x="1349006" y="1368280"/>
                  </a:cubicBezTo>
                  <a:cubicBezTo>
                    <a:pt x="1334784" y="1382503"/>
                    <a:pt x="1315494" y="1390493"/>
                    <a:pt x="1295381" y="1390493"/>
                  </a:cubicBezTo>
                  <a:lnTo>
                    <a:pt x="75838" y="1390493"/>
                  </a:lnTo>
                  <a:cubicBezTo>
                    <a:pt x="55724" y="1390493"/>
                    <a:pt x="36435" y="1382503"/>
                    <a:pt x="22212" y="1368280"/>
                  </a:cubicBezTo>
                  <a:cubicBezTo>
                    <a:pt x="7990" y="1354058"/>
                    <a:pt x="0" y="1334768"/>
                    <a:pt x="0" y="1314655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71218" cy="145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874843" y="0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842896" y="3583392"/>
            <a:ext cx="4598047" cy="1159467"/>
            <a:chOff x="0" y="0"/>
            <a:chExt cx="1211008" cy="3053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1008" cy="305374"/>
            </a:xfrm>
            <a:custGeom>
              <a:avLst/>
              <a:gdLst/>
              <a:ahLst/>
              <a:cxnLst/>
              <a:rect r="r" b="b" t="t" l="l"/>
              <a:pathLst>
                <a:path h="305374" w="1211008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58266" y="3583392"/>
            <a:ext cx="4598047" cy="1159467"/>
            <a:chOff x="0" y="0"/>
            <a:chExt cx="1211008" cy="3053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1008" cy="305374"/>
            </a:xfrm>
            <a:custGeom>
              <a:avLst/>
              <a:gdLst/>
              <a:ahLst/>
              <a:cxnLst/>
              <a:rect r="r" b="b" t="t" l="l"/>
              <a:pathLst>
                <a:path h="305374" w="1211008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0" y="9103283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431275" y="4952106"/>
            <a:ext cx="2621701" cy="2986957"/>
          </a:xfrm>
          <a:custGeom>
            <a:avLst/>
            <a:gdLst/>
            <a:ahLst/>
            <a:cxnLst/>
            <a:rect r="r" b="b" t="t" l="l"/>
            <a:pathLst>
              <a:path h="2986957" w="2621701">
                <a:moveTo>
                  <a:pt x="0" y="0"/>
                </a:moveTo>
                <a:lnTo>
                  <a:pt x="2621701" y="0"/>
                </a:lnTo>
                <a:lnTo>
                  <a:pt x="2621701" y="2986957"/>
                </a:lnTo>
                <a:lnTo>
                  <a:pt x="0" y="2986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3994" t="-14777" r="0" b="-18632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842896" y="810968"/>
            <a:ext cx="5203358" cy="140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79"/>
              </a:lnSpc>
              <a:spcBef>
                <a:spcPct val="0"/>
              </a:spcBef>
            </a:pPr>
            <a:r>
              <a:rPr lang="en-US" b="true" sz="8199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Tool</a:t>
            </a:r>
            <a:r>
              <a:rPr lang="en-US" b="true" sz="8199" strike="noStrike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 Used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89993" y="3909126"/>
            <a:ext cx="328975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 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97044" y="3909126"/>
            <a:ext cx="328975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 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12414" y="3909126"/>
            <a:ext cx="328975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 03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997948" y="4959792"/>
            <a:ext cx="2788846" cy="2979271"/>
          </a:xfrm>
          <a:custGeom>
            <a:avLst/>
            <a:gdLst/>
            <a:ahLst/>
            <a:cxnLst/>
            <a:rect r="r" b="b" t="t" l="l"/>
            <a:pathLst>
              <a:path h="2979271" w="2788846">
                <a:moveTo>
                  <a:pt x="0" y="0"/>
                </a:moveTo>
                <a:lnTo>
                  <a:pt x="2788846" y="0"/>
                </a:lnTo>
                <a:lnTo>
                  <a:pt x="2788846" y="2979271"/>
                </a:lnTo>
                <a:lnTo>
                  <a:pt x="0" y="2979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906" t="-17773" r="-103091" b="-2638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634838" y="4952106"/>
            <a:ext cx="2416267" cy="2986957"/>
          </a:xfrm>
          <a:custGeom>
            <a:avLst/>
            <a:gdLst/>
            <a:ahLst/>
            <a:cxnLst/>
            <a:rect r="r" b="b" t="t" l="l"/>
            <a:pathLst>
              <a:path h="2986957" w="2416267">
                <a:moveTo>
                  <a:pt x="0" y="0"/>
                </a:moveTo>
                <a:lnTo>
                  <a:pt x="2416268" y="0"/>
                </a:lnTo>
                <a:lnTo>
                  <a:pt x="2416268" y="2986957"/>
                </a:lnTo>
                <a:lnTo>
                  <a:pt x="0" y="2986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151" r="-228742" b="-2081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769" y="-164058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8" y="0"/>
                </a:lnTo>
                <a:lnTo>
                  <a:pt x="2162938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859" y="3602797"/>
            <a:ext cx="5729468" cy="4114800"/>
          </a:xfrm>
          <a:custGeom>
            <a:avLst/>
            <a:gdLst/>
            <a:ahLst/>
            <a:cxnLst/>
            <a:rect r="r" b="b" t="t" l="l"/>
            <a:pathLst>
              <a:path h="4114800" w="5729468">
                <a:moveTo>
                  <a:pt x="0" y="0"/>
                </a:moveTo>
                <a:lnTo>
                  <a:pt x="5729468" y="0"/>
                </a:lnTo>
                <a:lnTo>
                  <a:pt x="5729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78230" y="9258300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13690" y="541409"/>
            <a:ext cx="8369180" cy="113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0"/>
              </a:lnSpc>
            </a:pPr>
            <a:r>
              <a:rPr lang="en-US" b="true" sz="8581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Data Preparation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21654" y="2249972"/>
            <a:ext cx="11666346" cy="803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3"/>
              </a:lnSpc>
              <a:spcBef>
                <a:spcPct val="0"/>
              </a:spcBef>
            </a:pPr>
            <a:r>
              <a:rPr lang="en-US" b="true" sz="340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</a:t>
            </a:r>
            <a:r>
              <a:rPr lang="en-US" b="true" sz="340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ollection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Collected responses through Google Forms.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Combined survey data with additional sample records.</a:t>
            </a:r>
          </a:p>
          <a:p>
            <a:pPr algn="just">
              <a:lnSpc>
                <a:spcPts val="3855"/>
              </a:lnSpc>
              <a:spcBef>
                <a:spcPct val="0"/>
              </a:spcBef>
            </a:pPr>
          </a:p>
          <a:p>
            <a:pPr algn="just">
              <a:lnSpc>
                <a:spcPts val="4773"/>
              </a:lnSpc>
              <a:spcBef>
                <a:spcPct val="0"/>
              </a:spcBef>
            </a:pPr>
            <a:r>
              <a:rPr lang="en-US" b="true" sz="340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Removed duplicate records.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Standardized department names.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Corrected inconsistent values.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Checked for missing information.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Prepared the dataset for analysis.</a:t>
            </a:r>
          </a:p>
          <a:p>
            <a:pPr algn="just">
              <a:lnSpc>
                <a:spcPts val="3855"/>
              </a:lnSpc>
              <a:spcBef>
                <a:spcPct val="0"/>
              </a:spcBef>
            </a:pPr>
          </a:p>
          <a:p>
            <a:pPr algn="just">
              <a:lnSpc>
                <a:spcPts val="5053"/>
              </a:lnSpc>
              <a:spcBef>
                <a:spcPct val="0"/>
              </a:spcBef>
            </a:pPr>
            <a:r>
              <a:rPr lang="en-US" b="true" sz="360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Dataset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Records: 50</a:t>
            </a:r>
          </a:p>
          <a:p>
            <a:pPr algn="just" marL="637704" indent="-318852" lvl="1">
              <a:lnSpc>
                <a:spcPts val="4135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Cleaned and analysis-ready.</a:t>
            </a:r>
          </a:p>
          <a:p>
            <a:pPr algn="just">
              <a:lnSpc>
                <a:spcPts val="38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710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25061" y="9103283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11774" y="1808532"/>
            <a:ext cx="12288780" cy="8277473"/>
          </a:xfrm>
          <a:custGeom>
            <a:avLst/>
            <a:gdLst/>
            <a:ahLst/>
            <a:cxnLst/>
            <a:rect r="r" b="b" t="t" l="l"/>
            <a:pathLst>
              <a:path h="8277473" w="12288780">
                <a:moveTo>
                  <a:pt x="0" y="0"/>
                </a:moveTo>
                <a:lnTo>
                  <a:pt x="12288779" y="0"/>
                </a:lnTo>
                <a:lnTo>
                  <a:pt x="12288779" y="8277473"/>
                </a:lnTo>
                <a:lnTo>
                  <a:pt x="0" y="8277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" t="-666" r="0" b="-66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05186" y="-142875"/>
            <a:ext cx="9416369" cy="132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19"/>
              </a:lnSpc>
              <a:spcBef>
                <a:spcPct val="0"/>
              </a:spcBef>
            </a:pPr>
            <a:r>
              <a:rPr lang="en-US" b="true" sz="7799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Das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h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bo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rd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Overv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i</a:t>
            </a:r>
            <a:r>
              <a:rPr lang="en-US" b="true" sz="77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29973" y="1068707"/>
            <a:ext cx="8366795" cy="6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(I</a:t>
            </a:r>
            <a:r>
              <a:rPr lang="en-US" b="true" sz="3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nteractive Power BI Dashboard)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769" y="-369944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8" y="0"/>
                </a:lnTo>
                <a:lnTo>
                  <a:pt x="2162938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34204" y="9494146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7195" y="474594"/>
            <a:ext cx="15397002" cy="916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2"/>
              </a:lnSpc>
            </a:pPr>
            <a:r>
              <a:rPr lang="en-US" b="true" sz="6965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Features</a:t>
            </a:r>
          </a:p>
          <a:p>
            <a:pPr algn="ctr">
              <a:lnSpc>
                <a:spcPts val="8072"/>
              </a:lnSpc>
            </a:pPr>
          </a:p>
          <a:p>
            <a:pPr algn="just" marL="959367" indent="-479683" lvl="1">
              <a:lnSpc>
                <a:spcPts val="62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KPI Cards</a:t>
            </a:r>
          </a:p>
          <a:p>
            <a:pPr algn="just" marL="959367" indent="-479683" lvl="1">
              <a:lnSpc>
                <a:spcPts val="6220"/>
              </a:lnSpc>
              <a:spcBef>
                <a:spcPct val="0"/>
              </a:spcBef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nteractive Slicers</a:t>
            </a:r>
          </a:p>
          <a:p>
            <a:pPr algn="just" marL="959367" indent="-479683" lvl="1">
              <a:lnSpc>
                <a:spcPts val="6220"/>
              </a:lnSpc>
              <a:spcBef>
                <a:spcPct val="0"/>
              </a:spcBef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Department Analysis</a:t>
            </a:r>
          </a:p>
          <a:p>
            <a:pPr algn="just" marL="959367" indent="-479683" lvl="1">
              <a:lnSpc>
                <a:spcPts val="6220"/>
              </a:lnSpc>
              <a:spcBef>
                <a:spcPct val="0"/>
              </a:spcBef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Internship Status Distribution</a:t>
            </a:r>
          </a:p>
          <a:p>
            <a:pPr algn="just" marL="959367" indent="-479683" lvl="1">
              <a:lnSpc>
                <a:spcPts val="6220"/>
              </a:lnSpc>
              <a:spcBef>
                <a:spcPct val="0"/>
              </a:spcBef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Offer Analysis</a:t>
            </a:r>
          </a:p>
          <a:p>
            <a:pPr algn="just" marL="959367" indent="-479683" lvl="1">
              <a:lnSpc>
                <a:spcPts val="6220"/>
              </a:lnSpc>
              <a:spcBef>
                <a:spcPct val="0"/>
              </a:spcBef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Placement Attempts Distribution</a:t>
            </a:r>
          </a:p>
          <a:p>
            <a:pPr algn="just" marL="959367" indent="-479683" lvl="1">
              <a:lnSpc>
                <a:spcPts val="6220"/>
              </a:lnSpc>
              <a:spcBef>
                <a:spcPct val="0"/>
              </a:spcBef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Academic Year Analysis</a:t>
            </a:r>
          </a:p>
          <a:p>
            <a:pPr algn="just" marL="959367" indent="-479683" lvl="1">
              <a:lnSpc>
                <a:spcPts val="6220"/>
              </a:lnSpc>
              <a:spcBef>
                <a:spcPct val="0"/>
              </a:spcBef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Insights Panel</a:t>
            </a:r>
          </a:p>
          <a:p>
            <a:pPr algn="just">
              <a:lnSpc>
                <a:spcPts val="4765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685153" y="3394828"/>
            <a:ext cx="6220991" cy="4648777"/>
          </a:xfrm>
          <a:custGeom>
            <a:avLst/>
            <a:gdLst/>
            <a:ahLst/>
            <a:cxnLst/>
            <a:rect r="r" b="b" t="t" l="l"/>
            <a:pathLst>
              <a:path h="4648777" w="6220991">
                <a:moveTo>
                  <a:pt x="0" y="0"/>
                </a:moveTo>
                <a:lnTo>
                  <a:pt x="6220991" y="0"/>
                </a:lnTo>
                <a:lnTo>
                  <a:pt x="6220991" y="4648777"/>
                </a:lnTo>
                <a:lnTo>
                  <a:pt x="0" y="4648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8425" y="59989"/>
            <a:ext cx="15511150" cy="283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80"/>
              </a:lnSpc>
              <a:spcBef>
                <a:spcPct val="0"/>
              </a:spcBef>
            </a:pPr>
            <a:r>
              <a:rPr lang="en-US" b="true" sz="8128" strike="noStrike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Ke</a:t>
            </a:r>
            <a:r>
              <a:rPr lang="en-US" b="true" sz="8128" strike="noStrike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y Ins</a:t>
            </a:r>
            <a:r>
              <a:rPr lang="en-US" b="true" sz="8128" strike="noStrike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ights</a:t>
            </a:r>
          </a:p>
          <a:p>
            <a:pPr algn="ctr" marL="0" indent="0" lvl="0">
              <a:lnSpc>
                <a:spcPts val="1138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7935" y="2469478"/>
            <a:ext cx="13233222" cy="678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15692" indent="-457846" lvl="1">
              <a:lnSpc>
                <a:spcPts val="5937"/>
              </a:lnSpc>
              <a:spcBef>
                <a:spcPct val="0"/>
              </a:spcBef>
              <a:buFont typeface="Arial"/>
              <a:buChar char="•"/>
            </a:pP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Students Surv</a:t>
            </a: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eyed: 50</a:t>
            </a:r>
          </a:p>
          <a:p>
            <a:pPr algn="just" marL="915692" indent="-457846" lvl="1">
              <a:lnSpc>
                <a:spcPts val="5937"/>
              </a:lnSpc>
              <a:spcBef>
                <a:spcPct val="0"/>
              </a:spcBef>
              <a:buFont typeface="Arial"/>
              <a:buChar char="•"/>
            </a:pP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Colleges Covered: 36</a:t>
            </a:r>
          </a:p>
          <a:p>
            <a:pPr algn="just" marL="915692" indent="-457846" lvl="1">
              <a:lnSpc>
                <a:spcPts val="5937"/>
              </a:lnSpc>
              <a:spcBef>
                <a:spcPct val="0"/>
              </a:spcBef>
              <a:buFont typeface="Arial"/>
              <a:buChar char="•"/>
            </a:pP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Highest Participation: CSE Department</a:t>
            </a:r>
          </a:p>
          <a:p>
            <a:pPr algn="just" marL="915692" indent="-457846" lvl="1">
              <a:lnSpc>
                <a:spcPts val="5937"/>
              </a:lnSpc>
              <a:spcBef>
                <a:spcPct val="0"/>
              </a:spcBef>
              <a:buFont typeface="Arial"/>
              <a:buChar char="•"/>
            </a:pP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76% of students are interested in internships.</a:t>
            </a:r>
          </a:p>
          <a:p>
            <a:pPr algn="just" marL="915692" indent="-457846" lvl="1">
              <a:lnSpc>
                <a:spcPts val="5937"/>
              </a:lnSpc>
              <a:spcBef>
                <a:spcPct val="0"/>
              </a:spcBef>
              <a:buFont typeface="Arial"/>
              <a:buChar char="•"/>
            </a:pP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30% of students have received placement offers.</a:t>
            </a:r>
          </a:p>
          <a:p>
            <a:pPr algn="just" marL="915692" indent="-457846" lvl="1">
              <a:lnSpc>
                <a:spcPts val="5937"/>
              </a:lnSpc>
              <a:spcBef>
                <a:spcPct val="0"/>
              </a:spcBef>
              <a:buFont typeface="Arial"/>
              <a:buChar char="•"/>
            </a:pP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Placement Attempts: 3.76</a:t>
            </a:r>
          </a:p>
          <a:p>
            <a:pPr algn="just" marL="915692" indent="-457846" lvl="1">
              <a:lnSpc>
                <a:spcPts val="5937"/>
              </a:lnSpc>
              <a:spcBef>
                <a:spcPct val="0"/>
              </a:spcBef>
              <a:buFont typeface="Arial"/>
              <a:buChar char="•"/>
            </a:pPr>
            <a:r>
              <a:rPr lang="en-US" sz="4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28 students require placement assistance.</a:t>
            </a:r>
          </a:p>
          <a:p>
            <a:pPr algn="just">
              <a:lnSpc>
                <a:spcPts val="5937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2769" y="9494146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8" y="0"/>
                </a:lnTo>
                <a:lnTo>
                  <a:pt x="2162938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51624" y="3268259"/>
            <a:ext cx="4112704" cy="5188044"/>
          </a:xfrm>
          <a:custGeom>
            <a:avLst/>
            <a:gdLst/>
            <a:ahLst/>
            <a:cxnLst/>
            <a:rect r="r" b="b" t="t" l="l"/>
            <a:pathLst>
              <a:path h="5188044" w="4112704">
                <a:moveTo>
                  <a:pt x="0" y="0"/>
                </a:moveTo>
                <a:lnTo>
                  <a:pt x="4112704" y="0"/>
                </a:lnTo>
                <a:lnTo>
                  <a:pt x="4112704" y="5188045"/>
                </a:lnTo>
                <a:lnTo>
                  <a:pt x="0" y="5188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77831" y="-369944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8" y="0"/>
                </a:lnTo>
                <a:lnTo>
                  <a:pt x="2162938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07" y="3661848"/>
            <a:ext cx="5069869" cy="3954498"/>
          </a:xfrm>
          <a:custGeom>
            <a:avLst/>
            <a:gdLst/>
            <a:ahLst/>
            <a:cxnLst/>
            <a:rect r="r" b="b" t="t" l="l"/>
            <a:pathLst>
              <a:path h="3954498" w="5069869">
                <a:moveTo>
                  <a:pt x="0" y="0"/>
                </a:moveTo>
                <a:lnTo>
                  <a:pt x="5069868" y="0"/>
                </a:lnTo>
                <a:lnTo>
                  <a:pt x="5069868" y="3954497"/>
                </a:lnTo>
                <a:lnTo>
                  <a:pt x="0" y="3954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769" y="9103283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8" y="0"/>
                </a:lnTo>
                <a:lnTo>
                  <a:pt x="2162938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77831" y="-46413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8" y="0"/>
                </a:lnTo>
                <a:lnTo>
                  <a:pt x="2162938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02341" y="124083"/>
            <a:ext cx="12883318" cy="147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79"/>
              </a:lnSpc>
              <a:spcBef>
                <a:spcPct val="0"/>
              </a:spcBef>
            </a:pPr>
            <a:r>
              <a:rPr lang="en-US" b="true" sz="8628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Recomm</a:t>
            </a:r>
            <a:r>
              <a:rPr lang="en-US" b="true" sz="8628" strike="noStrike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</a:t>
            </a:r>
            <a:r>
              <a:rPr lang="en-US" b="true" sz="8628" strike="noStrike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nda</a:t>
            </a:r>
            <a:r>
              <a:rPr lang="en-US" b="true" sz="8628" strike="noStrike" u="sng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30593" y="2564637"/>
            <a:ext cx="13210177" cy="653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93493" indent="-496747" lvl="1">
              <a:lnSpc>
                <a:spcPts val="6442"/>
              </a:lnSpc>
              <a:buFont typeface="Arial"/>
              <a:buChar char="•"/>
            </a:pP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 Resume Building Workshops.</a:t>
            </a:r>
          </a:p>
          <a:p>
            <a:pPr algn="just" marL="993493" indent="-496747" lvl="1">
              <a:lnSpc>
                <a:spcPts val="6442"/>
              </a:lnSpc>
              <a:spcBef>
                <a:spcPct val="0"/>
              </a:spcBef>
              <a:buFont typeface="Arial"/>
              <a:buChar char="•"/>
            </a:pP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</a:t>
            </a: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engthen Technical Skill Training.</a:t>
            </a:r>
          </a:p>
          <a:p>
            <a:pPr algn="just" marL="993493" indent="-496747" lvl="1">
              <a:lnSpc>
                <a:spcPts val="6442"/>
              </a:lnSpc>
              <a:spcBef>
                <a:spcPct val="0"/>
              </a:spcBef>
              <a:buFont typeface="Arial"/>
              <a:buChar char="•"/>
            </a:pP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Aptitude Preparation Programs.</a:t>
            </a:r>
          </a:p>
          <a:p>
            <a:pPr algn="just" marL="993493" indent="-496747" lvl="1">
              <a:lnSpc>
                <a:spcPts val="6442"/>
              </a:lnSpc>
              <a:spcBef>
                <a:spcPct val="0"/>
              </a:spcBef>
              <a:buFont typeface="Arial"/>
              <a:buChar char="•"/>
            </a:pP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Organize</a:t>
            </a: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Mock Interview Sessions.</a:t>
            </a:r>
          </a:p>
          <a:p>
            <a:pPr algn="just" marL="993493" indent="-496747" lvl="1">
              <a:lnSpc>
                <a:spcPts val="6442"/>
              </a:lnSpc>
              <a:spcBef>
                <a:spcPct val="0"/>
              </a:spcBef>
              <a:buFont typeface="Arial"/>
              <a:buChar char="•"/>
            </a:pP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 Internship Opportunities.</a:t>
            </a:r>
          </a:p>
          <a:p>
            <a:pPr algn="just" marL="993493" indent="-496747" lvl="1">
              <a:lnSpc>
                <a:spcPts val="6442"/>
              </a:lnSpc>
              <a:spcBef>
                <a:spcPct val="0"/>
              </a:spcBef>
              <a:buFont typeface="Arial"/>
              <a:buChar char="•"/>
            </a:pP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 Personalized Career Guidance.</a:t>
            </a:r>
          </a:p>
          <a:p>
            <a:pPr algn="just" marL="993493" indent="-496747" lvl="1">
              <a:lnSpc>
                <a:spcPts val="6442"/>
              </a:lnSpc>
              <a:spcBef>
                <a:spcPct val="0"/>
              </a:spcBef>
              <a:buFont typeface="Arial"/>
              <a:buChar char="•"/>
            </a:pPr>
            <a:r>
              <a:rPr lang="en-US" sz="46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 Industry Interaction Programs.</a:t>
            </a:r>
          </a:p>
          <a:p>
            <a:pPr algn="just">
              <a:lnSpc>
                <a:spcPts val="64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298" y="2801717"/>
            <a:ext cx="13486798" cy="547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711" indent="-418355" lvl="1">
              <a:lnSpc>
                <a:spcPts val="5425"/>
              </a:lnSpc>
              <a:buFont typeface="Arial"/>
              <a:buChar char="•"/>
            </a:pPr>
            <a:r>
              <a:rPr lang="en-US" sz="38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</a:t>
            </a:r>
            <a:r>
              <a:rPr lang="en-US" sz="38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dashboard provides meaningful insights into student placement and internship trends through interactive visualizations.</a:t>
            </a:r>
          </a:p>
          <a:p>
            <a:pPr algn="l" marL="836711" indent="-418355" lvl="1">
              <a:lnSpc>
                <a:spcPts val="5425"/>
              </a:lnSpc>
              <a:buFont typeface="Arial"/>
              <a:buChar char="•"/>
            </a:pPr>
            <a:r>
              <a:rPr lang="en-US" sz="38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analysis can help institutions improve placement support, increase internship opportunities, and make informed, data-driven decisions.</a:t>
            </a:r>
          </a:p>
          <a:p>
            <a:pPr algn="l">
              <a:lnSpc>
                <a:spcPts val="542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613997" y="105720"/>
            <a:ext cx="6034511" cy="166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579"/>
              </a:lnSpc>
              <a:spcBef>
                <a:spcPct val="0"/>
              </a:spcBef>
            </a:pPr>
            <a:r>
              <a:rPr lang="en-US" b="true" sz="9699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8276371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96361" y="1028700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00095" y="3750169"/>
            <a:ext cx="4489189" cy="6141925"/>
          </a:xfrm>
          <a:custGeom>
            <a:avLst/>
            <a:gdLst/>
            <a:ahLst/>
            <a:cxnLst/>
            <a:rect r="r" b="b" t="t" l="l"/>
            <a:pathLst>
              <a:path h="6141925" w="4489189">
                <a:moveTo>
                  <a:pt x="0" y="0"/>
                </a:moveTo>
                <a:lnTo>
                  <a:pt x="4489189" y="0"/>
                </a:lnTo>
                <a:lnTo>
                  <a:pt x="4489189" y="6141924"/>
                </a:lnTo>
                <a:lnTo>
                  <a:pt x="0" y="6141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519365"/>
            <a:ext cx="6782896" cy="983696"/>
            <a:chOff x="0" y="0"/>
            <a:chExt cx="1786442" cy="259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6442" cy="259081"/>
            </a:xfrm>
            <a:custGeom>
              <a:avLst/>
              <a:gdLst/>
              <a:ahLst/>
              <a:cxnLst/>
              <a:rect r="r" b="b" t="t" l="l"/>
              <a:pathLst>
                <a:path h="259081" w="1786442">
                  <a:moveTo>
                    <a:pt x="58211" y="0"/>
                  </a:moveTo>
                  <a:lnTo>
                    <a:pt x="1728231" y="0"/>
                  </a:lnTo>
                  <a:cubicBezTo>
                    <a:pt x="1760380" y="0"/>
                    <a:pt x="1786442" y="26062"/>
                    <a:pt x="1786442" y="58211"/>
                  </a:cubicBezTo>
                  <a:lnTo>
                    <a:pt x="1786442" y="200870"/>
                  </a:lnTo>
                  <a:cubicBezTo>
                    <a:pt x="1786442" y="233019"/>
                    <a:pt x="1760380" y="259081"/>
                    <a:pt x="1728231" y="259081"/>
                  </a:cubicBezTo>
                  <a:lnTo>
                    <a:pt x="58211" y="259081"/>
                  </a:lnTo>
                  <a:cubicBezTo>
                    <a:pt x="26062" y="259081"/>
                    <a:pt x="0" y="233019"/>
                    <a:pt x="0" y="200870"/>
                  </a:cubicBezTo>
                  <a:lnTo>
                    <a:pt x="0" y="58211"/>
                  </a:lnTo>
                  <a:cubicBezTo>
                    <a:pt x="0" y="26062"/>
                    <a:pt x="26062" y="0"/>
                    <a:pt x="58211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6442" cy="316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96361" y="1028700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055636"/>
            <a:ext cx="2162939" cy="1183717"/>
          </a:xfrm>
          <a:custGeom>
            <a:avLst/>
            <a:gdLst/>
            <a:ahLst/>
            <a:cxnLst/>
            <a:rect r="r" b="b" t="t" l="l"/>
            <a:pathLst>
              <a:path h="1183717" w="2162939">
                <a:moveTo>
                  <a:pt x="0" y="0"/>
                </a:moveTo>
                <a:lnTo>
                  <a:pt x="2162939" y="0"/>
                </a:lnTo>
                <a:lnTo>
                  <a:pt x="2162939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0957" y="5615332"/>
            <a:ext cx="6458382" cy="67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3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yo</a:t>
            </a:r>
            <a:r>
              <a:rPr lang="en-US" sz="3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ur attention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205937"/>
            <a:ext cx="8282942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0"/>
              </a:lnSpc>
              <a:spcBef>
                <a:spcPct val="0"/>
              </a:spcBef>
            </a:pPr>
            <a:r>
              <a:rPr lang="en-US" sz="12000" strike="noStrike" u="non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Thank 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400265" y="1919962"/>
            <a:ext cx="5204037" cy="6360489"/>
          </a:xfrm>
          <a:custGeom>
            <a:avLst/>
            <a:gdLst/>
            <a:ahLst/>
            <a:cxnLst/>
            <a:rect r="r" b="b" t="t" l="l"/>
            <a:pathLst>
              <a:path h="6360489" w="5204037">
                <a:moveTo>
                  <a:pt x="0" y="0"/>
                </a:moveTo>
                <a:lnTo>
                  <a:pt x="5204037" y="0"/>
                </a:lnTo>
                <a:lnTo>
                  <a:pt x="5204037" y="6360490"/>
                </a:lnTo>
                <a:lnTo>
                  <a:pt x="0" y="6360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DAHOKdxZCsQ</dc:identifier>
  <dcterms:modified xsi:type="dcterms:W3CDTF">2011-08-01T06:04:30Z</dcterms:modified>
  <cp:revision>1</cp:revision>
  <dc:title>Student_Placement_and_Internship_Analytics_Dashboard_Presentation_Pavani_Yeddala</dc:title>
</cp:coreProperties>
</file>